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3" id="{AB13D0A9-EB80-BB6E-BE3F-2B3A48009E4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524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ditya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201168"/>
            <a:ext cx="1490472" cy="594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" name="Image 0" descr="Aditya Universit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74320"/>
            <a:ext cx="4608576" cy="6309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 Data Analysis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Third Review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Cleaning, Visualization and Prediction Models</a:t>
            </a:r>
            <a:endParaRPr lang="en-US" sz="2000" dirty="0"/>
          </a:p>
        </p:txBody>
      </p:sp>
      <p:sp>
        <p:nvSpPr>
          <p:cNvPr id="5" name="Team card"/>
          <p:cNvSpPr/>
          <p:nvPr/>
        </p:nvSpPr>
        <p:spPr>
          <a:xfrm>
            <a:off x="658368" y="3840480"/>
            <a:ext cx="53949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776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Jaswanthi 25B11AI619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Pravallika 26B21AI052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Ch. Siri Varshini 26B21AI017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J. Roshini Sai Deekshitha 25B11AI418</a:t>
            </a:r>
            <a:endParaRPr lang="en-US" sz="1600" dirty="0"/>
          </a:p>
        </p:txBody>
      </p:sp>
      <p:sp>
        <p:nvSpPr>
          <p:cNvPr id="7" name="Department card"/>
          <p:cNvSpPr/>
          <p:nvPr/>
        </p:nvSpPr>
        <p:spPr>
          <a:xfrm>
            <a:off x="6263640" y="3840480"/>
            <a:ext cx="525780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397764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Artificial Intelligence &amp; Machine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Proposal System</a:t>
            </a:r>
            <a:endParaRPr lang="en-US" sz="2800" dirty="0"/>
          </a:p>
        </p:txBody>
      </p:sp>
      <p:sp>
        <p:nvSpPr>
          <p:cNvPr id="3" name="Flow 1"/>
          <p:cNvSpPr/>
          <p:nvPr/>
        </p:nvSpPr>
        <p:spPr>
          <a:xfrm>
            <a:off x="82296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dataset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 orders</a:t>
            </a:r>
            <a:endParaRPr lang="en-US" sz="1500" dirty="0"/>
          </a:p>
        </p:txBody>
      </p:sp>
      <p:sp>
        <p:nvSpPr>
          <p:cNvPr id="6" name="Flow 2"/>
          <p:cNvSpPr/>
          <p:nvPr/>
        </p:nvSpPr>
        <p:spPr>
          <a:xfrm>
            <a:off x="297180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6324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 and nulls</a:t>
            </a:r>
            <a:endParaRPr lang="en-US" sz="1500" dirty="0"/>
          </a:p>
        </p:txBody>
      </p:sp>
      <p:sp>
        <p:nvSpPr>
          <p:cNvPr id="9" name="Flow 3"/>
          <p:cNvSpPr/>
          <p:nvPr/>
        </p:nvSpPr>
        <p:spPr>
          <a:xfrm>
            <a:off x="512064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and charts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Patterns and insights</a:t>
            </a:r>
            <a:endParaRPr lang="en-US" sz="1500" dirty="0"/>
          </a:p>
        </p:txBody>
      </p:sp>
      <p:sp>
        <p:nvSpPr>
          <p:cNvPr id="12" name="Flow 4"/>
          <p:cNvSpPr/>
          <p:nvPr/>
        </p:nvSpPr>
        <p:spPr>
          <a:xfrm>
            <a:off x="726948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ML models</a:t>
            </a:r>
            <a:endParaRPr lang="en-US" sz="1500" dirty="0"/>
          </a:p>
        </p:txBody>
      </p:sp>
      <p:sp>
        <p:nvSpPr>
          <p:cNvPr id="15" name="Flow 5"/>
          <p:cNvSpPr/>
          <p:nvPr/>
        </p:nvSpPr>
        <p:spPr>
          <a:xfrm>
            <a:off x="9418320" y="1920240"/>
            <a:ext cx="19202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0" y="21031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Accuracy, R², MAE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404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1 proposed a Python workflow to load, clean, analyse and visualize food-order data.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2 implemented cleaning, EDA and charts on the real dataset.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Review 3 adds prediction models (Review 1 future scope) and measures their accuracy.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Food Delivery Data Analysis System is a Python project that analyses 50,000 food-delivery orders: city, cuisine, restaurant, order value, distance, delivery time, rating, payment and status.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Pandas and NumPy clean the data; Matplotlib shows cuisine, payment, city and status patterns.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Scikit-learn models predict delivery time and order status, scored with R², MAE and accuracy.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a complete pipeline from raw CSV to insights and predictions.</a:t>
            </a:r>
            <a:endParaRPr lang="en-US" sz="1700" dirty="0"/>
          </a:p>
        </p:txBody>
      </p:sp>
      <p:sp>
        <p:nvSpPr>
          <p:cNvPr id="4" name="Records card"/>
          <p:cNvSpPr/>
          <p:nvPr/>
        </p:nvSpPr>
        <p:spPr>
          <a:xfrm>
            <a:off x="7955280" y="182880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19385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records (from 50,000 raw)</a:t>
            </a:r>
            <a:endParaRPr lang="en-US" sz="1400" dirty="0"/>
          </a:p>
        </p:txBody>
      </p:sp>
      <p:sp>
        <p:nvSpPr>
          <p:cNvPr id="7" name="Columns card"/>
          <p:cNvSpPr/>
          <p:nvPr/>
        </p:nvSpPr>
        <p:spPr>
          <a:xfrm>
            <a:off x="7955280" y="333756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34472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 analysed</a:t>
            </a:r>
            <a:endParaRPr lang="en-US" sz="1400" dirty="0"/>
          </a:p>
        </p:txBody>
      </p:sp>
      <p:sp>
        <p:nvSpPr>
          <p:cNvPr id="10" name="Models card"/>
          <p:cNvSpPr/>
          <p:nvPr/>
        </p:nvSpPr>
        <p:spPr>
          <a:xfrm>
            <a:off x="7955280" y="4846320"/>
            <a:ext cx="338328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49560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5669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 delivery platforms collect huge order data, but manual analysis is slow, error-prone and hides patterns. We need to clean the data, find what drives orders, and predict delivery performance.</a:t>
            </a:r>
            <a:endParaRPr lang="en-US" sz="1800" dirty="0"/>
          </a:p>
        </p:txBody>
      </p:sp>
      <p:sp>
        <p:nvSpPr>
          <p:cNvPr id="4" name="Question 1"/>
          <p:cNvSpPr/>
          <p:nvPr/>
        </p:nvSpPr>
        <p:spPr>
          <a:xfrm>
            <a:off x="82296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Demand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cuisines, cities and payment methods drive orders?</a:t>
            </a:r>
            <a:endParaRPr lang="en-US" sz="1600" dirty="0"/>
          </a:p>
        </p:txBody>
      </p:sp>
      <p:sp>
        <p:nvSpPr>
          <p:cNvPr id="7" name="Question 2"/>
          <p:cNvSpPr/>
          <p:nvPr/>
        </p:nvSpPr>
        <p:spPr>
          <a:xfrm>
            <a:off x="6172200" y="301752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Delivery time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distance and order value affect delivery time?</a:t>
            </a:r>
            <a:endParaRPr lang="en-US" sz="1600" dirty="0"/>
          </a:p>
        </p:txBody>
      </p:sp>
      <p:sp>
        <p:nvSpPr>
          <p:cNvPr id="10" name="Question 3"/>
          <p:cNvSpPr/>
          <p:nvPr/>
        </p:nvSpPr>
        <p:spPr>
          <a:xfrm>
            <a:off x="822960" y="457200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delivery time and price relate to customer rating?</a:t>
            </a:r>
            <a:endParaRPr lang="en-US" sz="1600" dirty="0"/>
          </a:p>
        </p:txBody>
      </p:sp>
      <p:sp>
        <p:nvSpPr>
          <p:cNvPr id="13" name="Question 4"/>
          <p:cNvSpPr/>
          <p:nvPr/>
        </p:nvSpPr>
        <p:spPr>
          <a:xfrm>
            <a:off x="6172200" y="4572000"/>
            <a:ext cx="51663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status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5166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we predict if an order is delivered, cancelled or pending?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Details: Before and After Cleaning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cleaning</a:t>
            </a:r>
            <a:endParaRPr lang="en-US" sz="2200" dirty="0"/>
          </a:p>
        </p:txBody>
      </p:sp>
      <p:sp>
        <p:nvSpPr>
          <p:cNvPr id="4" name="Before cleaning rows"/>
          <p:cNvSpPr/>
          <p:nvPr/>
        </p:nvSpPr>
        <p:spPr>
          <a:xfrm>
            <a:off x="8229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50,000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500" dirty="0"/>
          </a:p>
        </p:txBody>
      </p:sp>
      <p:sp>
        <p:nvSpPr>
          <p:cNvPr id="7" name="Before cleaning columns"/>
          <p:cNvSpPr/>
          <p:nvPr/>
        </p:nvSpPr>
        <p:spPr>
          <a:xfrm>
            <a:off x="338328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</a:t>
            </a:r>
            <a:endParaRPr lang="en-US" sz="1500" dirty="0"/>
          </a:p>
        </p:txBody>
      </p:sp>
      <p:sp>
        <p:nvSpPr>
          <p:cNvPr id="10" name="Before cleaning duplicate rows"/>
          <p:cNvSpPr/>
          <p:nvPr/>
        </p:nvSpPr>
        <p:spPr>
          <a:xfrm>
            <a:off x="82296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13" name="Before cleaning missing values"/>
          <p:cNvSpPr/>
          <p:nvPr/>
        </p:nvSpPr>
        <p:spPr>
          <a:xfrm>
            <a:off x="338328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cleaning</a:t>
            </a:r>
            <a:endParaRPr lang="en-US" sz="2200" dirty="0"/>
          </a:p>
        </p:txBody>
      </p:sp>
      <p:sp>
        <p:nvSpPr>
          <p:cNvPr id="17" name="After cleaning rows"/>
          <p:cNvSpPr/>
          <p:nvPr/>
        </p:nvSpPr>
        <p:spPr>
          <a:xfrm>
            <a:off x="630936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</a:t>
            </a:r>
            <a:endParaRPr lang="en-US" sz="1500" dirty="0"/>
          </a:p>
        </p:txBody>
      </p:sp>
      <p:sp>
        <p:nvSpPr>
          <p:cNvPr id="20" name="After cleaning columns"/>
          <p:cNvSpPr/>
          <p:nvPr/>
        </p:nvSpPr>
        <p:spPr>
          <a:xfrm>
            <a:off x="8869680" y="22860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0" y="23957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063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columns</a:t>
            </a:r>
            <a:endParaRPr lang="en-US" sz="1500" dirty="0"/>
          </a:p>
        </p:txBody>
      </p:sp>
      <p:sp>
        <p:nvSpPr>
          <p:cNvPr id="23" name="After cleaning duplicate rows"/>
          <p:cNvSpPr/>
          <p:nvPr/>
        </p:nvSpPr>
        <p:spPr>
          <a:xfrm>
            <a:off x="630936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26" name="After cleaning missing values"/>
          <p:cNvSpPr/>
          <p:nvPr/>
        </p:nvSpPr>
        <p:spPr>
          <a:xfrm>
            <a:off x="8869680" y="3657600"/>
            <a:ext cx="246888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52560" y="376732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90525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Fields: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Order ID, customer age, city, cuisine, restaurant, order value, distance, delivery time, customer rating, payment method, order status.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and Duplicate Records</a:t>
            </a:r>
            <a:endParaRPr lang="en-US" sz="2800" dirty="0"/>
          </a:p>
        </p:txBody>
      </p:sp>
      <p:sp>
        <p:nvSpPr>
          <p:cNvPr id="3" name="Missing card"/>
          <p:cNvSpPr/>
          <p:nvPr/>
        </p:nvSpPr>
        <p:spPr>
          <a:xfrm>
            <a:off x="822960" y="182880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38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in all 11 columns</a:t>
            </a:r>
            <a:endParaRPr lang="en-US" sz="1400" dirty="0"/>
          </a:p>
        </p:txBody>
      </p:sp>
      <p:sp>
        <p:nvSpPr>
          <p:cNvPr id="6" name="Duplicates card"/>
          <p:cNvSpPr/>
          <p:nvPr/>
        </p:nvSpPr>
        <p:spPr>
          <a:xfrm>
            <a:off x="822960" y="333756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4472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1,000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rows (2% of 50,000)</a:t>
            </a:r>
            <a:endParaRPr lang="en-US" sz="1400" dirty="0"/>
          </a:p>
        </p:txBody>
      </p:sp>
      <p:sp>
        <p:nvSpPr>
          <p:cNvPr id="9" name="Unique card"/>
          <p:cNvSpPr/>
          <p:nvPr/>
        </p:nvSpPr>
        <p:spPr>
          <a:xfrm>
            <a:off x="822960" y="4846320"/>
            <a:ext cx="34747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49560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49,000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 rows after removal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8288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 handled them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37744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Checked nulls column by column with isnull().sum(); the total was 0, so no imputation was needed.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Counted exact duplicate orders with duplicated().sum() and found 1,000 repeated rows.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Removed them with drop_duplicates(), keeping the first copy of each order.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Re-checked shape, nulls and duplicates: 49,000 rows, 0 nulls, 0 duplicates.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If nulls existed: median for numeric columns, mode for categorical columns.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Step by Step: Loading and Cleaning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pandas as pd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pd.read_csv(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"food_delivery_dataset_50000.csv")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print(df.shape)             # (50000, 11)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print(df.isnull().sum())    # all 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print(df.duplicated().sum())  # 1000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 = df.drop_duplicates()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print(df.shape)             # (49000, 11)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04088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read_csv reads the 50,000 orders into a DataFrame.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04088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883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Confirms 50,000 rows and 11 columns.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04088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56616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Nulls: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isnull().sum() gives 0 missing in every column.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04088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4439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duplicated().sum() counts 1,000 repeats.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04088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32180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drop_duplicates() leaves 49,000 clean rows.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Code Step by Step: Analysis and Charts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matplotlib.pyplot as plt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df["Cuisine"].value_counts().plot(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kind="bar")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plt.title("Orders by Cuisine")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plt.show()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df["Payment_Method"].value_counts().plot(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kind="pie", autopct="%1.1f%%")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plt.show()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df["City"].value_counts().head()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df["Order_Status"].value_counts()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04088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810512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value_counts() counts orders per category.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04088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88336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Compares cuisines side by side.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04088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56616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Pie chart: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Shows each payment method's share.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04088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4443984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City ranking: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head() lists the top demand cities.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04088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5321808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Counts delivered, cancelled and pending.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Outputs vs Actual Outputs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Output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Expected (Review 1)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(Review 3)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Dataset information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Shape and data types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50,000 rows x 11 columns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Missing-value report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Nulls per column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 missing values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Cleaned dataset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 duplicates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49,000 unique rows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Food category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popular cuisine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Biryani: 10,714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Payment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Most-used method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UPI: 23,619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City analysis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Highest-demand city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Warangal: 8,309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 status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Largest status group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Delivered: 42,290 orders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</a:t>
            </a:r>
            <a:endParaRPr lang="en-US" sz="2800" dirty="0"/>
          </a:p>
        </p:txBody>
      </p:sp>
      <p:sp>
        <p:nvSpPr>
          <p:cNvPr id="3" name="Task 1"/>
          <p:cNvSpPr/>
          <p:nvPr/>
        </p:nvSpPr>
        <p:spPr>
          <a:xfrm>
            <a:off x="822960" y="1783080"/>
            <a:ext cx="516636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A: Predict delivery time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Regression | 80% train, 20% test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 (baseline)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Regressor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7091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distance, order value, customer age, city, cuisine, payment method</a:t>
            </a:r>
            <a:endParaRPr lang="en-US" sz="1600" dirty="0"/>
          </a:p>
        </p:txBody>
      </p:sp>
      <p:sp>
        <p:nvSpPr>
          <p:cNvPr id="8" name="Task 2"/>
          <p:cNvSpPr/>
          <p:nvPr/>
        </p:nvSpPr>
        <p:spPr>
          <a:xfrm>
            <a:off x="6172200" y="1783080"/>
            <a:ext cx="5166360" cy="4389120"/>
          </a:xfrm>
          <a:prstGeom prst="roundRect">
            <a:avLst>
              <a:gd name="adj" fmla="val 1667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B: Predict order status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| 80% train, 20% test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200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 (baseline)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 Classifier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47091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Features: distance, order value, delivery time, rating, city, cuisine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Code Step by Step</a:t>
            </a:r>
            <a:endParaRPr lang="en-US" sz="2800" dirty="0"/>
          </a:p>
        </p:txBody>
      </p:sp>
      <p:sp>
        <p:nvSpPr>
          <p:cNvPr id="3" name="Code panel"/>
          <p:cNvSpPr/>
          <p:nvPr/>
        </p:nvSpPr>
        <p:spPr>
          <a:xfrm>
            <a:off x="822960" y="1783080"/>
            <a:ext cx="603504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965960"/>
            <a:ext cx="55778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sklearn.model_selection import train_test_split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sklearn.ensemble import RandomForestRegressor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pd.get_dummies(df[feats], drop_first=True)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 = df["Delivery_Time"]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X_tr, X_te, y_tr, y_te = train_test_split(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X, y, test_size=0.2, random_state=42)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= RandomForestRegressor(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n_estimators=100, random_state=42)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model.fit(X_tr, y_tr)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 = model.predict(X_te)</a:t>
            </a:r>
            <a:endParaRPr lang="en-US" sz="1400" dirty="0"/>
          </a:p>
        </p:txBody>
      </p:sp>
      <p:sp>
        <p:nvSpPr>
          <p:cNvPr id="5" name="Step 1"/>
          <p:cNvSpPr/>
          <p:nvPr/>
        </p:nvSpPr>
        <p:spPr>
          <a:xfrm>
            <a:off x="7223760" y="182880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810512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Encode: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get_dummies turns text columns into numbers.</a:t>
            </a:r>
            <a:endParaRPr lang="en-US" sz="1400" dirty="0"/>
          </a:p>
        </p:txBody>
      </p:sp>
      <p:sp>
        <p:nvSpPr>
          <p:cNvPr id="8" name="Step 2"/>
          <p:cNvSpPr/>
          <p:nvPr/>
        </p:nvSpPr>
        <p:spPr>
          <a:xfrm>
            <a:off x="7223760" y="270662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0" y="2688336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Split: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80% to learn, 20% to test.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722376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566160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fit() learns patterns from training rows.</a:t>
            </a:r>
            <a:endParaRPr lang="en-US" sz="1400" dirty="0"/>
          </a:p>
        </p:txBody>
      </p:sp>
      <p:sp>
        <p:nvSpPr>
          <p:cNvPr id="14" name="Step 4"/>
          <p:cNvSpPr/>
          <p:nvPr/>
        </p:nvSpPr>
        <p:spPr>
          <a:xfrm>
            <a:off x="7223760" y="446227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4443984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predict() estimates unseen test rows.</a:t>
            </a:r>
            <a:endParaRPr lang="en-US" sz="1400" dirty="0"/>
          </a:p>
        </p:txBody>
      </p:sp>
      <p:sp>
        <p:nvSpPr>
          <p:cNvPr id="17" name="Step 5"/>
          <p:cNvSpPr/>
          <p:nvPr/>
        </p:nvSpPr>
        <p:spPr>
          <a:xfrm>
            <a:off x="7223760" y="534009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2376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3218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Score: </a:t>
            </a:r>
            <a:r>
              <a:rPr lang="en-US" sz="14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pred with y_te (next slide).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Details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A: delivery time (regression)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48840"/>
          <a:ext cx="10515600" cy="9144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R² score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MAE (min)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RMSE (min)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-0.001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19.07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21.99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Regressor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-0.060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19.45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22.63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B: order status (classification)</a:t>
            </a:r>
            <a:endParaRPr lang="en-US" sz="18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60520"/>
          <a:ext cx="10515600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F1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Logistic Regression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0.745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Classifier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0.813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0.863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0.800</a:t>
                      </a:r>
                      <a:endParaRPr lang="en-US" sz="15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come from the review3_models.py output. Higher R², accuracy and F1 are better; lower MAE and RMSE are better.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Visualizations Used and How They Work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Chart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Code used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shows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7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cuisine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popular food: Biryani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Pie: payment methods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value_counts().plot(kind="pie")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Share of UPI, cash, card, wallet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orders by city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City.value_counts().plot(kind="bar")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Demand by city: Warangal highest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Bar: order status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Order_Status.value_counts().plot(kind="bar")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Delivered, cancelled, pending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Actual vs predicted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plt.scatter(y_te, pred)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close predictions are to real times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Feature importance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model.feature_importances_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D2D2D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Which inputs drive predictions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Visualization Outputs</a:t>
            </a:r>
            <a:endParaRPr lang="en-US" sz="2800" dirty="0"/>
          </a:p>
        </p:txBody>
      </p:sp>
      <p:pic>
        <p:nvPicPr>
          <p:cNvPr id="3" name="Cuisine bar chart" descr="Bar chart of orders by cuis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5303520" cy="2944368"/>
          </a:xfrm>
          <a:prstGeom prst="rect">
            <a:avLst/>
          </a:prstGeom>
        </p:spPr>
      </p:pic>
      <p:pic>
        <p:nvPicPr>
          <p:cNvPr id="4" name="Payment pie chart" descr="Pie chart of payment method distribu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783080"/>
            <a:ext cx="4114800" cy="29443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2296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Cuisine bar chart.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Biryani leads with 10,714 orders, so menu and stock planning should favour it.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583680" y="5029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Payment pie chart. </a:t>
            </a:r>
            <a:r>
              <a:rPr lang="en-US" sz="16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UPI is the most-used method with 23,619 orders, so digital payments matter most.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data was cleaned: 50,000 rows became 49,000 unique rows with 0 nulls.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and charts showed Biryani, UPI, Warangal and Delivered orders as the top groups.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models estimate delivery time and order status and are scored with standard metrics.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5B6472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ityaReview">
  <a:themeElements>
    <a:clrScheme name="AdityaReview">
      <a:dk1>
        <a:srgbClr val="2D2D2D"/>
      </a:dk1>
      <a:lt1>
        <a:srgbClr val="FFFFFF"/>
      </a:lt1>
      <a:dk2>
        <a:srgbClr val="1F3756"/>
      </a:dk2>
      <a:lt2>
        <a:srgbClr val="F2F5F9"/>
      </a:lt2>
      <a:accent1>
        <a:srgbClr val="1F3756"/>
      </a:accent1>
      <a:accent2>
        <a:srgbClr val="4472C4"/>
      </a:accent2>
      <a:accent3>
        <a:srgbClr val="2A7F62"/>
      </a:accent3>
      <a:accent4>
        <a:srgbClr val="5B6472"/>
      </a:accent4>
      <a:accent5>
        <a:srgbClr val="A23B3B"/>
      </a:accent5>
      <a:accent6>
        <a:srgbClr val="E87722"/>
      </a:accent6>
      <a:hlink>
        <a:srgbClr val="4472C4"/>
      </a:hlink>
      <a:folHlink>
        <a:srgbClr val="5B6472"/>
      </a:folHlink>
    </a:clrScheme>
    <a:fontScheme name="AdityaReview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Widescreen</PresentationFormat>
  <Paragraphs>275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AdityaReview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Delivery Data Analysis - Review 3</dc:title>
  <dc:subject>PptxGenJS Presentation</dc:subject>
  <dc:creator>PptxGenJS</dc:creator>
  <cp:lastModifiedBy>kuramsetti jaswanthi</cp:lastModifiedBy>
  <cp:revision>1</cp:revision>
  <dcterms:created xsi:type="dcterms:W3CDTF">2026-10-25T15:41:27Z</dcterms:created>
  <dcterms:modified xsi:type="dcterms:W3CDTF">2026-10-25T16:10:38Z</dcterms:modified>
</cp:coreProperties>
</file>